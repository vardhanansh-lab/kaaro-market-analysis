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58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238166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PITCH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7873" y="2821305"/>
            <a:ext cx="17673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7692"/>
              </a:lnSpc>
              <a:buNone/>
            </a:pPr>
            <a:r>
              <a:rPr lang="en-US" sz="8850" b="1" kern="0" spc="-17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Kaaro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143000" y="4116705"/>
            <a:ext cx="1003796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8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trusted marketplace for local services.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43000" y="4954905"/>
            <a:ext cx="107932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40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every household with verified neighbourhood professionals — booked, tracked, and paid for in one place.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6250305"/>
            <a:ext cx="1515309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1120" y="6343650"/>
            <a:ext cx="1195269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Electrician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10708" y="6250305"/>
            <a:ext cx="1287661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08828" y="6343650"/>
            <a:ext cx="967621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50769" y="6250305"/>
            <a:ext cx="1151811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8889" y="6343650"/>
            <a:ext cx="831771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54980" y="6250305"/>
            <a:ext cx="2027634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53100" y="6343650"/>
            <a:ext cx="1707594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Cleaning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35014" y="6250305"/>
            <a:ext cx="959168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3134" y="6343650"/>
            <a:ext cx="639128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46582" y="6250305"/>
            <a:ext cx="1456968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4702" y="6343650"/>
            <a:ext cx="1136928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Carpenter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55950" y="6250305"/>
            <a:ext cx="1397794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54070" y="6343650"/>
            <a:ext cx="1077754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006144" y="6250305"/>
            <a:ext cx="1522571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04264" y="6343650"/>
            <a:ext cx="1202531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Beautician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681115" y="6250305"/>
            <a:ext cx="1313498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79235" y="6343650"/>
            <a:ext cx="993458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Care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6924675"/>
            <a:ext cx="1475303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1120" y="7018020"/>
            <a:ext cx="1155263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Repair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770704" y="6924675"/>
            <a:ext cx="2298740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68824" y="7018020"/>
            <a:ext cx="1978700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Packers &amp; Movers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221843" y="6924675"/>
            <a:ext cx="1586151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9963" y="7018020"/>
            <a:ext cx="1266111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Babysitting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0394" y="6924675"/>
            <a:ext cx="1707118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8514" y="7018020"/>
            <a:ext cx="1387078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 Control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819912" y="6924675"/>
            <a:ext cx="2334339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18032" y="7018020"/>
            <a:ext cx="2014299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Repair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43000" y="9215795"/>
            <a:ext cx="2201454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Kaaro Technologies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315772" y="9215795"/>
            <a:ext cx="152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563422" y="9215795"/>
            <a:ext cx="1421404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37897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reliable local services is still broken.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3448407"/>
            <a:ext cx="11872725" cy="704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40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still runs through WhatsApp groups, phone calls and word of mouth — no verification, no fixed pricing, no accountability.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5362456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5727264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6232922"/>
            <a:ext cx="5180076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claim to be a professional — there's no way to check.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29400" y="5362456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5727264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price clarity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29400" y="6232922"/>
            <a:ext cx="5180076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change call to call, house to house, with no fixed reference.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115800" y="5362456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115800" y="5727264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115800" y="6232922"/>
            <a:ext cx="5180076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rating, no service record, no recourse if a job goes wrong.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44091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local service.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3448407"/>
            <a:ext cx="13127182" cy="704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80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Kaaro matches every request to a verified, nearby professional - booked, tracked, and paid for in one place.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3000" y="5362456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5727264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6232922"/>
            <a:ext cx="5180076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Aadhaar KYC and in-person background checks before anyone goes live.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29400" y="5362456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5727264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29400" y="6232922"/>
            <a:ext cx="5180076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Pro on the map in real time, ETA included.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115800" y="5362456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115800" y="5727264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after the job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115800" y="6232922"/>
            <a:ext cx="5180076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UPI, cards or cash — settled only once you're satisfied.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38434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apps. One connected system.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3448407"/>
            <a:ext cx="11872725" cy="704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40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experiences for customers, professionals, and the Kaaro operations team.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5362456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5727264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9645" y="6232922"/>
            <a:ext cx="5278755" cy="112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service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Pro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rate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29400" y="5362456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5727264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App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56045" y="6232922"/>
            <a:ext cx="5278755" cy="112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jobs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&amp; navigate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payouts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115800" y="5362456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115800" y="5727264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942445" y="6232922"/>
            <a:ext cx="5278755" cy="112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operations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verification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analytics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212431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request to rating, fully automated.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41052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470083"/>
            <a:ext cx="40233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896088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5401746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describes the job.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57800" y="41052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4470083"/>
            <a:ext cx="40233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57800" y="4896088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Pros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57800" y="5401746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nearby pros visible.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72600" y="41052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4470083"/>
            <a:ext cx="40233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72600" y="4896088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ranked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72600" y="5401746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Nearest, rated, available.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487400" y="41052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487400" y="4470083"/>
            <a:ext cx="40233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487400" y="4896088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487400" y="5401746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Fair, transparent rate.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6486049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6850856"/>
            <a:ext cx="40233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7276862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43000" y="7782520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confirmation.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257800" y="6486049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6850856"/>
            <a:ext cx="40233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7276862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verify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257800" y="7782520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Pro, right home.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372600" y="6486049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372600" y="6850856"/>
            <a:ext cx="40233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72600" y="7276862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372600" y="7782520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done, payment released.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3487400" y="6486049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3487400" y="6850856"/>
            <a:ext cx="40233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487400" y="7276862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487400" y="7782520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the trust engine.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22221"/>
            <a:ext cx="294496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441210" y="528876"/>
            <a:ext cx="2703790" cy="541020"/>
          </a:xfrm>
          <a:prstGeom prst="rect">
            <a:avLst/>
          </a:prstGeom>
          <a:ln w="7620">
            <a:solidFill>
              <a:srgbClr val="EC30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9330" y="622221"/>
            <a:ext cx="2388664" cy="3924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active development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running underneath every booking.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143000" y="41052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470083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Intelligence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4975741"/>
            <a:ext cx="3767328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by proximity &amp; travel time.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57800" y="41052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4470083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57800" y="4975741"/>
            <a:ext cx="3767328" cy="112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 on completed orders to price new jobs from a plain description.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72600" y="41052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4470083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Prediction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372600" y="4975741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Anticipates where jobs will spike.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487400" y="41052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487400" y="4470083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Forecast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487400" y="4975741"/>
            <a:ext cx="3767328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enough Pros online, always.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6974443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7339251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Ranking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3000" y="7844909"/>
            <a:ext cx="402336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the best Pro for the job.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257800" y="6974443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7339251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257800" y="7844909"/>
            <a:ext cx="3767328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suspicious accounts &amp; jobs.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372600" y="6974443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7339251"/>
            <a:ext cx="402336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Assignment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72600" y="7844909"/>
            <a:ext cx="3767328" cy="66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Auto-routes each request in seconds.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487400" y="6964918"/>
            <a:ext cx="3657600" cy="2193488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87400" y="6964918"/>
            <a:ext cx="3657600" cy="1524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9" name="Text 27"/>
          <p:cNvSpPr/>
          <p:nvPr/>
        </p:nvSpPr>
        <p:spPr>
          <a:xfrm>
            <a:off x="13754100" y="7630001"/>
            <a:ext cx="343662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6471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54100" y="8066604"/>
            <a:ext cx="3436620" cy="215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"Fixed the switch and fan"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754100" y="8523804"/>
            <a:ext cx="3436620" cy="215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1950" b="1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₹250 </a:t>
            </a:r>
            <a:r>
              <a:rPr lang="en-US" sz="180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AI-suggested price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327893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local services economy is enormous and still offline.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43338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698683"/>
            <a:ext cx="4023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52"/>
              </a:lnSpc>
              <a:buNone/>
            </a:pPr>
            <a:r>
              <a:rPr lang="en-US" sz="6900" b="1" kern="0" spc="-13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$100B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143000" y="5633681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local services market by 2030 — from $60B, ~10% CAGR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57800" y="43338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257800" y="4698683"/>
            <a:ext cx="4023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52"/>
              </a:lnSpc>
              <a:buNone/>
            </a:pPr>
            <a:r>
              <a:rPr lang="en-US" sz="6900" b="1" kern="0" spc="-13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540M+</a:t>
            </a:r>
            <a:endParaRPr lang="en-US" sz="6900" dirty="0"/>
          </a:p>
        </p:txBody>
      </p:sp>
      <p:sp>
        <p:nvSpPr>
          <p:cNvPr id="9" name="Text 7"/>
          <p:cNvSpPr/>
          <p:nvPr/>
        </p:nvSpPr>
        <p:spPr>
          <a:xfrm>
            <a:off x="5257800" y="5633681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Indians — the addressable household base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72600" y="43338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4698683"/>
            <a:ext cx="4023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52"/>
              </a:lnSpc>
              <a:buNone/>
            </a:pPr>
            <a:r>
              <a:rPr lang="en-US" sz="6900" b="1" kern="0" spc="-13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</a:t>
            </a:r>
            <a:endParaRPr lang="en-US" sz="6900" dirty="0"/>
          </a:p>
        </p:txBody>
      </p:sp>
      <p:sp>
        <p:nvSpPr>
          <p:cNvPr id="12" name="Text 10"/>
          <p:cNvSpPr/>
          <p:nvPr/>
        </p:nvSpPr>
        <p:spPr>
          <a:xfrm>
            <a:off x="9372600" y="5633681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local household services currently booked online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487400" y="4333875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487400" y="4698683"/>
            <a:ext cx="4023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52"/>
              </a:lnSpc>
              <a:buNone/>
            </a:pPr>
            <a:r>
              <a:rPr lang="en-US" sz="6900" b="1" kern="0" spc="-13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6900" dirty="0"/>
          </a:p>
        </p:txBody>
      </p:sp>
      <p:sp>
        <p:nvSpPr>
          <p:cNvPr id="15" name="Text 13"/>
          <p:cNvSpPr/>
          <p:nvPr/>
        </p:nvSpPr>
        <p:spPr>
          <a:xfrm>
            <a:off x="13487400" y="5633681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service categories Kaaro can serve on one platform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114592"/>
            <a:ext cx="17602200" cy="181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16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Redseer Strategy Consultants; McKinsey; TechCrunch (2026 estimates). Digitisation split is a directional estimate.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252442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Multiple, durable revenue lines.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5011936"/>
            <a:ext cx="512064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490126"/>
            <a:ext cx="5045660" cy="194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63640" y="5011936"/>
            <a:ext cx="1088136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4490126"/>
            <a:ext cx="10979201" cy="194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b="1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5935742"/>
            <a:ext cx="512064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388136"/>
            <a:ext cx="5045660" cy="224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63640" y="5935742"/>
            <a:ext cx="1088136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5388136"/>
            <a:ext cx="10979201" cy="224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cut of every completed booking — our core revenue driver.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6848118"/>
            <a:ext cx="512064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6304322"/>
            <a:ext cx="5045660" cy="22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Subscriptions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263640" y="6848118"/>
            <a:ext cx="1088136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6304322"/>
            <a:ext cx="10979201" cy="22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plans for steadier lead flow and priority jobs.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7760494"/>
            <a:ext cx="512064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7216697"/>
            <a:ext cx="5045660" cy="22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263640" y="7760494"/>
            <a:ext cx="1088136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7216697"/>
            <a:ext cx="10979201" cy="22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pay to rank higher in search results.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8672870"/>
            <a:ext cx="512064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8129073"/>
            <a:ext cx="5045660" cy="22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Pricing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263640" y="8672870"/>
            <a:ext cx="1088136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8129073"/>
            <a:ext cx="10979201" cy="22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rates by demand, location and complexity.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143000" y="9585246"/>
            <a:ext cx="512064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9041449"/>
            <a:ext cx="5045660" cy="22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Partnerships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263640" y="9585246"/>
            <a:ext cx="1088136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9041449"/>
            <a:ext cx="10979201" cy="22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societies, RWAs and corporate contracts.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240144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signal, entirely organic.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3448407"/>
            <a:ext cx="11872725" cy="704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40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Kaaro launched in Bareilly with zero paid marketing — every booking so far came from word of mouth.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5591056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5955864"/>
            <a:ext cx="4023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52"/>
              </a:lnSpc>
              <a:buNone/>
            </a:pPr>
            <a:r>
              <a:rPr lang="en-US" sz="6900" b="1" kern="0" spc="-13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143000" y="6890861"/>
            <a:ext cx="37673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done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57800" y="5591056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5955864"/>
            <a:ext cx="4023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52"/>
              </a:lnSpc>
              <a:buNone/>
            </a:pPr>
            <a:r>
              <a:rPr lang="en-US" sz="6900" b="1" kern="0" spc="-13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6900" dirty="0"/>
          </a:p>
        </p:txBody>
      </p:sp>
      <p:sp>
        <p:nvSpPr>
          <p:cNvPr id="10" name="Text 8"/>
          <p:cNvSpPr/>
          <p:nvPr/>
        </p:nvSpPr>
        <p:spPr>
          <a:xfrm>
            <a:off x="5257800" y="6890861"/>
            <a:ext cx="37673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customers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72600" y="5591056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372600" y="5955864"/>
            <a:ext cx="4023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52"/>
              </a:lnSpc>
              <a:buNone/>
            </a:pPr>
            <a:r>
              <a:rPr lang="en-US" sz="6900" b="1" kern="0" spc="-13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6900" dirty="0"/>
          </a:p>
        </p:txBody>
      </p:sp>
      <p:sp>
        <p:nvSpPr>
          <p:cNvPr id="13" name="Text 11"/>
          <p:cNvSpPr/>
          <p:nvPr/>
        </p:nvSpPr>
        <p:spPr>
          <a:xfrm>
            <a:off x="9372600" y="6890861"/>
            <a:ext cx="37673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professionals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487400" y="5591056"/>
            <a:ext cx="36576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487400" y="5955864"/>
            <a:ext cx="4023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552"/>
              </a:lnSpc>
              <a:buNone/>
            </a:pPr>
            <a:r>
              <a:rPr lang="en-US" sz="6900" b="1" kern="0" spc="-13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900" dirty="0"/>
          </a:p>
        </p:txBody>
      </p:sp>
      <p:sp>
        <p:nvSpPr>
          <p:cNvPr id="16" name="Text 14"/>
          <p:cNvSpPr/>
          <p:nvPr/>
        </p:nvSpPr>
        <p:spPr>
          <a:xfrm>
            <a:off x="13487400" y="6890861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growth, zero paid acquisition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9114592"/>
            <a:ext cx="17602200" cy="181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203"/>
              </a:lnSpc>
              <a:buNone/>
            </a:pPr>
            <a:r>
              <a:rPr lang="en-US" sz="16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Bareilly, UP — company data, current cohort (early-stage, pre-scale).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220839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 funnel, built on trust : not ad spend.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4105275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470083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9645" y="4975741"/>
            <a:ext cx="5278755" cy="112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Word-of-mouth referrals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Hyperlocal WhatsApp groups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SEO &amp; discovery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6347341"/>
            <a:ext cx="553212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First booking, converted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29400" y="4105275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4470083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Acquisition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56045" y="4975741"/>
            <a:ext cx="5278755" cy="112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onboarding drives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incentives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leader partnerships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629400" y="6347341"/>
            <a:ext cx="5532120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Verified Pro goes live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115800" y="4105275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115800" y="4470083"/>
            <a:ext cx="553212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Edge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942445" y="4975741"/>
            <a:ext cx="5278755" cy="112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paid marketing to date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built on trust and word-of-mouth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neighbourhood-level credibility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42284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city to a trusted name across local India.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3487698"/>
            <a:ext cx="10302133" cy="20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Bareilly today → nearby Tier-1/2 cities in UP → North India's Tier-1/2 cities → Pan-India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4457700"/>
            <a:ext cx="16002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7494747"/>
            <a:ext cx="13508117" cy="201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6667"/>
              </a:lnSpc>
              <a:buNone/>
            </a:pPr>
            <a:r>
              <a:rPr lang="en-US" sz="1875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paid marketing to date. Each stage builds on verified demand from the one before it.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17467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9901" y="1876663"/>
            <a:ext cx="16516152" cy="113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06"/>
              </a:lnSpc>
              <a:buNone/>
            </a:pPr>
            <a:r>
              <a:rPr lang="en-US" sz="4500" b="1" kern="0" spc="-6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building India's trusted local services platform.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3448407"/>
            <a:ext cx="11872725" cy="704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40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looking for guidance from experienced entrepreneurs and industry operators, alongside a small pre-seed cheque to fund our next few months of building.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5362456"/>
            <a:ext cx="77724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5727264"/>
            <a:ext cx="854964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asking for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9645" y="6232922"/>
            <a:ext cx="8021955" cy="112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&amp; mentorship from experienced entrepreneurs and industry operators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pre-seed cheque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72600" y="5362456"/>
            <a:ext cx="77724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372600" y="5727264"/>
            <a:ext cx="8549640" cy="25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funds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99245" y="6232922"/>
            <a:ext cx="8021955" cy="1579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 — building the Kaaro app, end to end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 — recommendation engine and self-learning pricing model</a:t>
            </a:r>
            <a:endParaRPr lang="en-US" sz="1950" dirty="0"/>
          </a:p>
          <a:p>
            <a:pPr marL="0" indent="0" algn="l">
              <a:lnSpc>
                <a:spcPct val="162162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Expansion — UP's Tier-1/2 cities, then North India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336274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7873" y="2849166"/>
            <a:ext cx="17673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7692"/>
              </a:lnSpc>
              <a:buNone/>
            </a:pPr>
            <a:r>
              <a:rPr lang="en-US" sz="8850" b="1" kern="0" spc="-17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143000" y="4144566"/>
            <a:ext cx="1003796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8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Kaaro - every service, one trust.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43000" y="5135166"/>
            <a:ext cx="4010918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403"/>
              </a:lnSpc>
              <a:buNone/>
            </a:pPr>
            <a:r>
              <a:rPr lang="en-US" sz="2850" b="1" kern="0" spc="-4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Ansh Vardhan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43000" y="5578554"/>
            <a:ext cx="375567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10811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CEO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6211014"/>
            <a:ext cx="375567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10811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B.Tech, IIT (BHU) Varanasi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6843475"/>
            <a:ext cx="375567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10811"/>
              </a:lnSpc>
              <a:buNone/>
            </a:pPr>
            <a:r>
              <a:rPr lang="en-US" sz="195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ansh.vardhan.cer23@iitbhu.ac.in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703689" y="5135166"/>
            <a:ext cx="3949756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403"/>
              </a:lnSpc>
              <a:buNone/>
            </a:pPr>
            <a:r>
              <a:rPr lang="en-US" sz="2850" b="1" kern="0" spc="-4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Bhavya Tiwari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5703689" y="5578554"/>
            <a:ext cx="369840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10811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CTO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703689" y="6211014"/>
            <a:ext cx="369840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10811"/>
              </a:lnSpc>
              <a:buNone/>
            </a:pPr>
            <a:r>
              <a:rPr lang="en-US" sz="1950" dirty="0">
                <a:solidFill>
                  <a:srgbClr val="1F1E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B.Tech, IIT (BHU) Varanasi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703689" y="6843475"/>
            <a:ext cx="369840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10811"/>
              </a:lnSpc>
              <a:buNone/>
            </a:pPr>
            <a:r>
              <a:rPr lang="en-US" sz="195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bhavya.tiwari.cer23@iitbhu.ac.in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9215795"/>
            <a:ext cx="1961257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+91 82874 02667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909</Words>
  <Application>Microsoft Office PowerPoint</Application>
  <PresentationFormat>Custom</PresentationFormat>
  <Paragraphs>192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Ansh Vardhan</cp:lastModifiedBy>
  <cp:revision>2</cp:revision>
  <dcterms:created xsi:type="dcterms:W3CDTF">2026-08-20T14:33:12Z</dcterms:created>
  <dcterms:modified xsi:type="dcterms:W3CDTF">2026-08-20T14:35:06Z</dcterms:modified>
</cp:coreProperties>
</file>